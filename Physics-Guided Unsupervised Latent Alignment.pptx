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Inter"/>
      <p:regular r:id="rId22"/>
      <p:bold r:id="rId23"/>
      <p:italic r:id="rId24"/>
      <p:boldItalic r:id="rId25"/>
    </p:embeddedFont>
    <p:embeddedFont>
      <p:font typeface="Rajdhani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5CB51D-76A7-4AE2-9E1C-0B8EB9B2B07F}">
  <a:tblStyle styleId="{8F5CB51D-76A7-4AE2-9E1C-0B8EB9B2B07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-regular.fntdata"/><Relationship Id="rId21" Type="http://schemas.openxmlformats.org/officeDocument/2006/relationships/slide" Target="slides/slide15.xml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jdhani-regular.fntdata"/><Relationship Id="rId25" Type="http://schemas.openxmlformats.org/officeDocument/2006/relationships/font" Target="fonts/Inter-boldItalic.fntdata"/><Relationship Id="rId27" Type="http://schemas.openxmlformats.org/officeDocument/2006/relationships/font" Target="fonts/Rajdhani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Relationship Id="rId7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29.png"/><Relationship Id="rId13" Type="http://schemas.openxmlformats.org/officeDocument/2006/relationships/image" Target="../media/image36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9" Type="http://schemas.openxmlformats.org/officeDocument/2006/relationships/image" Target="../media/image31.png"/><Relationship Id="rId15" Type="http://schemas.openxmlformats.org/officeDocument/2006/relationships/image" Target="../media/image38.png"/><Relationship Id="rId14" Type="http://schemas.openxmlformats.org/officeDocument/2006/relationships/image" Target="../media/image27.png"/><Relationship Id="rId17" Type="http://schemas.openxmlformats.org/officeDocument/2006/relationships/image" Target="../media/image26.png"/><Relationship Id="rId16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Relationship Id="rId18" Type="http://schemas.openxmlformats.org/officeDocument/2006/relationships/image" Target="../media/image28.png"/><Relationship Id="rId7" Type="http://schemas.openxmlformats.org/officeDocument/2006/relationships/image" Target="../media/image17.png"/><Relationship Id="rId8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5" Type="http://schemas.openxmlformats.org/officeDocument/2006/relationships/image" Target="../media/image24.png"/><Relationship Id="rId6" Type="http://schemas.openxmlformats.org/officeDocument/2006/relationships/image" Target="../media/image37.png"/><Relationship Id="rId7" Type="http://schemas.openxmlformats.org/officeDocument/2006/relationships/image" Target="../media/image39.png"/><Relationship Id="rId8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46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4023270"/>
            <a:ext cx="10858500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95275" y="1129749"/>
            <a:ext cx="114015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BBF24"/>
                </a:solidFill>
                <a:latin typeface="Rajdhani"/>
                <a:ea typeface="Rajdhani"/>
                <a:cs typeface="Rajdhani"/>
                <a:sym typeface="Rajdhani"/>
              </a:rPr>
              <a:t>PHYSICS-GUIDED UNSUPERVISED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BBF24"/>
                </a:solidFill>
                <a:latin typeface="Rajdhani"/>
                <a:ea typeface="Rajdhani"/>
                <a:cs typeface="Rajdhani"/>
                <a:sym typeface="Rajdhani"/>
              </a:rPr>
              <a:t> LATENT ALIGNMENT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143500" y="2946945"/>
            <a:ext cx="1905000" cy="38100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95287" y="3270795"/>
            <a:ext cx="114014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UNIFIED SOLAR PV SYSTEM LOSS ESTIMATION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1944350" y="6505575"/>
            <a:ext cx="57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247775" y="4318545"/>
            <a:ext cx="9696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Aruni Saxena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247775" y="4813845"/>
            <a:ext cx="96964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Dhirubhai Ambani Institute of Information and Communication Technology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247775" y="5175795"/>
            <a:ext cx="9696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202418006@dau.ac.in | November 27,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ABSTRACT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666750" y="1085850"/>
            <a:ext cx="108585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1915775" y="6505575"/>
            <a:ext cx="857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" y="1400175"/>
            <a:ext cx="54506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THE CHALLENGE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6750" y="1809750"/>
            <a:ext cx="5191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System losses in PV installations vary by region and season: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09625" y="302895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Problem:</a:t>
            </a:r>
            <a:r>
              <a:rPr b="0" i="0" lang="en-US" sz="1350" u="none" cap="none" strike="noStrike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 Reliable ground-truth loss measurements are absent, making supervised learning impossible.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66750" y="3028950"/>
            <a:ext cx="28575" cy="5143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334125" y="1400175"/>
            <a:ext cx="54506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THE SOLUTION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334125" y="1809750"/>
            <a:ext cx="5191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unified framework combining: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334125" y="2724150"/>
            <a:ext cx="51911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produce consistent, location-aware loss estimates without requiring labeled data.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09625" y="20669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04875" y="2066925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Dust accumulation &amp; humidity-driven corrosion.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09625" y="23241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04875" y="2324100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Monsoon cloud transients &amp; rainfall cleaning.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09625" y="25812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04875" y="2581275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Temperature-induced derating.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477000" y="20669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572250" y="2066925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Physical Domain Knowledge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(Environmental drivers).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477000" y="23241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572250" y="2324100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Unsupervised Inference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(Encoder-Decoder).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400175"/>
            <a:ext cx="5286375" cy="498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400175"/>
            <a:ext cx="5286375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EXISTING DOMAIN MODELS (1/2)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666750" y="1085850"/>
            <a:ext cx="108585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11915775" y="6505575"/>
            <a:ext cx="857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42975" y="1638300"/>
            <a:ext cx="501062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PVWATTS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42975" y="2047875"/>
            <a:ext cx="47720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Philosophy: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Accessibility and Speed.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42975" y="2305050"/>
            <a:ext cx="47720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Methodology: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Uses simplified derate factors fixed over time. Basic temperature adjustments.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42975" y="3114675"/>
            <a:ext cx="47720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Limitation:</a:t>
            </a:r>
            <a:r>
              <a:rPr b="0" i="0" lang="en-US" sz="135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 Treats soiling as constant. Ignores dynamic dust, AOD, and rainfall cleaning.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515100" y="1638300"/>
            <a:ext cx="501062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SANDIA (SAPM)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515100" y="2047875"/>
            <a:ext cx="47720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Philosophy: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Detailed Electrical Description.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515100" y="2305050"/>
            <a:ext cx="47720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Methodology: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Empirically derived parameters for IV behavior and spectral sensitivity.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515100" y="3114675"/>
            <a:ext cx="47720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Limitation:</a:t>
            </a:r>
            <a:r>
              <a:rPr b="0" i="0" lang="en-US" sz="135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 Presumes modules are "clean". No explicit model for environmental degradation like dust or corrosion.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400175"/>
            <a:ext cx="5286375" cy="498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400175"/>
            <a:ext cx="5286375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EXISTING DOMAIN MODELS (2/2)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666750" y="1085850"/>
            <a:ext cx="108585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1915775" y="6505575"/>
            <a:ext cx="857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42975" y="1638300"/>
            <a:ext cx="501062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CEC MODEL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42975" y="2047875"/>
            <a:ext cx="47720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Philosophy: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Standardized Module Parameters.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942975" y="2305050"/>
            <a:ext cx="47720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Methodology: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Rigorous formulation of the diode IV curve equation.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42975" y="3114675"/>
            <a:ext cx="47720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Limitation:</a:t>
            </a:r>
            <a:r>
              <a:rPr b="0" i="0" lang="en-US" sz="135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 Confined to electrical characteristics. Fails to simulate optical changes (soiling) or long-term environmental stress.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515100" y="1638300"/>
            <a:ext cx="501062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SYSTEM ADVISOR MODEL (SAM)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515100" y="2047875"/>
            <a:ext cx="47720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Philosophy: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Broad Financial &amp; Technical Modeling.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515100" y="2305050"/>
            <a:ext cx="47720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Methodology: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Integrates shading, thermal, and financial calculations.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515100" y="3114675"/>
            <a:ext cx="47720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Limitation:</a:t>
            </a:r>
            <a:r>
              <a:rPr b="0" i="0" lang="en-US" sz="135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 Relies on </a:t>
            </a:r>
            <a:r>
              <a:rPr b="0" i="1" lang="en-US" sz="135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user-specified</a:t>
            </a:r>
            <a:r>
              <a:rPr b="0" i="0" lang="en-US" sz="135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 static inputs for environmental losses rather than simulating them dynamically.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209800"/>
            <a:ext cx="5191125" cy="6993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028950"/>
            <a:ext cx="5191125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MOTIVATION FOR LATENT ALIGNMENT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666750" y="1085850"/>
            <a:ext cx="108585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11925300" y="6505575"/>
            <a:ext cx="76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66750" y="1400175"/>
            <a:ext cx="54506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THE DISAGREEMENT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66750" y="1809750"/>
            <a:ext cx="5191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Each physics-based model produces a loss estimate: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66750" y="3052018"/>
            <a:ext cx="51911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Yet these predictions disagree due to differences in assumptions and missing mechanisms.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334125" y="1400175"/>
            <a:ext cx="54506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WHY UNSUPERVISED?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477000" y="18097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572250" y="1809750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 Ground Truth: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We cannot use supervised learning ($Y_{true}$ does not exist).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477000" y="23241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572250" y="2324100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Infeasible to label: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Field sensors do not separate "soiling" from "shading".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486525" y="3181350"/>
            <a:ext cx="4886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Solution: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Extract a </a:t>
            </a:r>
            <a:r>
              <a:rPr b="0" i="1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Shared Representation</a:t>
            </a: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that captures physically consistent behavior across all models.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OUR APPROACH: UNIFIED LATENT ALIGNMENT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666750" y="1085850"/>
            <a:ext cx="108585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666750" y="1400175"/>
            <a:ext cx="10858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propose a framework that brings all factors together: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11915775" y="6505575"/>
            <a:ext cx="857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4467225" y="2038350"/>
            <a:ext cx="24765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7477125" y="2038350"/>
            <a:ext cx="24765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=</a:t>
            </a:r>
            <a:endParaRPr/>
          </a:p>
        </p:txBody>
      </p:sp>
      <p:pic>
        <p:nvPicPr>
          <p:cNvPr descr="image.png"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7975" y="20383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1835943" y="2705100"/>
            <a:ext cx="250031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PHYSICAL DRIVERS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895475" y="311467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AOD, Rain, Temp, Humidity</a:t>
            </a:r>
            <a:endParaRPr/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29300" y="2038350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4845843" y="2705100"/>
            <a:ext cx="250031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MULTIPLE MODELS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4905375" y="3114675"/>
            <a:ext cx="2381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PVWatts, SAM, etc. (The "Views")</a:t>
            </a:r>
            <a:endParaRPr/>
          </a:p>
        </p:txBody>
      </p:sp>
      <p:pic>
        <p:nvPicPr>
          <p:cNvPr descr="image.png" id="190" name="Google Shape;19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39200" y="2038350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7855743" y="2705100"/>
            <a:ext cx="250031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LATENT TRUTH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7915275" y="311467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Unified Loss Estimate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466975"/>
            <a:ext cx="5191125" cy="6517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09800"/>
            <a:ext cx="5191125" cy="72643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METHODOLOGY: SOILING PHYSICS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666750" y="1085850"/>
            <a:ext cx="108585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11925300" y="6505575"/>
            <a:ext cx="76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66750" y="1400175"/>
            <a:ext cx="54506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DUST ACCUMULATION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66750" y="1809750"/>
            <a:ext cx="51911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Modeled as balance between deposition (AOD) and rainfall cleaning.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66750" y="3261568"/>
            <a:ext cx="5191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D: Dust Mass, R: Rain, α: Deposition coeff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334125" y="1400175"/>
            <a:ext cx="54506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OPTICAL LOSS FUNCTION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334125" y="1809750"/>
            <a:ext cx="5191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Exponential reduction in transmittance.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334125" y="3079105"/>
            <a:ext cx="5191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k: Attenuation constant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857375"/>
            <a:ext cx="5191125" cy="735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193405"/>
            <a:ext cx="5191125" cy="8623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857375"/>
            <a:ext cx="5191125" cy="9751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432571"/>
            <a:ext cx="5191125" cy="67076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METHODOLOGY: CORROSION &amp; MONSOON</a:t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666750" y="1085850"/>
            <a:ext cx="108585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11915775" y="6505575"/>
            <a:ext cx="857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66750" y="1400175"/>
            <a:ext cx="54506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HUMIDITY CORROSION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66750" y="2736205"/>
            <a:ext cx="54506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COASTAL AMPLIFICATION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334125" y="1400175"/>
            <a:ext cx="54506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MONSOON CLOUD LOSS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334125" y="2975371"/>
            <a:ext cx="54506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RAINFALL CLEANING GAIN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3797944"/>
            <a:ext cx="5191125" cy="852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860303"/>
            <a:ext cx="5191125" cy="72791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METHODOLOGY: THERMAL PHYSICS</a:t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666750" y="1085850"/>
            <a:ext cx="108585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11915775" y="6505575"/>
            <a:ext cx="857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66750" y="2988319"/>
            <a:ext cx="54506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CELL TEMPERATURE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666750" y="3397894"/>
            <a:ext cx="5191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Derived from NOCT (Nominal Operating Cell Temp).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334125" y="3050678"/>
            <a:ext cx="54506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THERMAL LOSS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334125" y="3460253"/>
            <a:ext cx="5191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Loss per degree rise above 25°C.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847850"/>
            <a:ext cx="10858500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43275" y="2847975"/>
            <a:ext cx="142101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35810" y="2657475"/>
            <a:ext cx="1120378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27714" y="2847975"/>
            <a:ext cx="142101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2038350"/>
            <a:ext cx="1714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250" y="2705100"/>
            <a:ext cx="1714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250" y="3371850"/>
            <a:ext cx="1714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7250" y="4038600"/>
            <a:ext cx="1714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20250" y="2038350"/>
            <a:ext cx="1714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620250" y="2705100"/>
            <a:ext cx="1714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20250" y="3371850"/>
            <a:ext cx="1714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620250" y="4038600"/>
            <a:ext cx="1714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ENCODER-DECODER ARCHITECTURE</a:t>
            </a:r>
            <a:endParaRPr/>
          </a:p>
        </p:txBody>
      </p:sp>
      <p:sp>
        <p:nvSpPr>
          <p:cNvPr id="257" name="Google Shape;257;p22"/>
          <p:cNvSpPr/>
          <p:nvPr/>
        </p:nvSpPr>
        <p:spPr>
          <a:xfrm>
            <a:off x="666750" y="1085850"/>
            <a:ext cx="108585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666750" y="1400175"/>
            <a:ext cx="10858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combine standard industry models with our Unified Physics Model.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11858625" y="6505575"/>
            <a:ext cx="142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/>
          </a:p>
        </p:txBody>
      </p:sp>
      <p:pic>
        <p:nvPicPr>
          <p:cNvPr descr="image.png" id="260" name="Google Shape;260;p2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857500" y="32099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050035" y="32099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941939" y="32099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134475" y="3209925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685925"/>
            <a:ext cx="1981200" cy="10156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33700" y="1685925"/>
            <a:ext cx="1981200" cy="10156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05400" y="1685925"/>
            <a:ext cx="1981200" cy="10156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77100" y="1685925"/>
            <a:ext cx="1981200" cy="10156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48800" y="1685925"/>
            <a:ext cx="1981200" cy="10156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92016" y="3730228"/>
            <a:ext cx="4207966" cy="1023788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THE ALGORITHM PIPELINE</a:t>
            </a:r>
            <a:endParaRPr/>
          </a:p>
        </p:txBody>
      </p:sp>
      <p:sp>
        <p:nvSpPr>
          <p:cNvPr id="276" name="Google Shape;276;p23"/>
          <p:cNvSpPr/>
          <p:nvPr/>
        </p:nvSpPr>
        <p:spPr>
          <a:xfrm>
            <a:off x="666750" y="1085850"/>
            <a:ext cx="108585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11887200" y="6505575"/>
            <a:ext cx="114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395287" y="3177778"/>
            <a:ext cx="114014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OPTIMIZATION OBJECTIVE (RECONSTRUCTION ERROR)</a:t>
            </a:r>
            <a:endParaRPr/>
          </a:p>
        </p:txBody>
      </p:sp>
      <p:pic>
        <p:nvPicPr>
          <p:cNvPr descr="image.png" id="279" name="Google Shape;279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00350" y="2174676"/>
            <a:ext cx="1143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3"/>
          <p:cNvSpPr txBox="1"/>
          <p:nvPr/>
        </p:nvSpPr>
        <p:spPr>
          <a:xfrm>
            <a:off x="952500" y="1914525"/>
            <a:ext cx="168021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BBF24"/>
                </a:solidFill>
                <a:latin typeface="Rajdhani"/>
                <a:ea typeface="Rajdhani"/>
                <a:cs typeface="Rajdhani"/>
                <a:sym typeface="Rajdhani"/>
              </a:rPr>
              <a:t>1. GENERATE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952500" y="2228850"/>
            <a:ext cx="1600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Climate    X   t   </a:t>
            </a:r>
            <a:endParaRPr/>
          </a:p>
        </p:txBody>
      </p:sp>
      <p:pic>
        <p:nvPicPr>
          <p:cNvPr descr="image.png" id="282" name="Google Shape;282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72050" y="2174676"/>
            <a:ext cx="1143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 txBox="1"/>
          <p:nvPr/>
        </p:nvSpPr>
        <p:spPr>
          <a:xfrm>
            <a:off x="3124200" y="1914525"/>
            <a:ext cx="168021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BBF24"/>
                </a:solidFill>
                <a:latin typeface="Rajdhani"/>
                <a:ea typeface="Rajdhani"/>
                <a:cs typeface="Rajdhani"/>
                <a:sym typeface="Rajdhani"/>
              </a:rPr>
              <a:t>2. SIMULATE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3124200" y="2228850"/>
            <a:ext cx="1600200" cy="258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Losses    Y    i   ,   t    </a:t>
            </a:r>
            <a:endParaRPr/>
          </a:p>
        </p:txBody>
      </p:sp>
      <p:pic>
        <p:nvPicPr>
          <p:cNvPr descr="image.png" id="285" name="Google Shape;285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43750" y="2174676"/>
            <a:ext cx="1143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3"/>
          <p:cNvSpPr txBox="1"/>
          <p:nvPr/>
        </p:nvSpPr>
        <p:spPr>
          <a:xfrm>
            <a:off x="5295900" y="1914525"/>
            <a:ext cx="168021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BBF24"/>
                </a:solidFill>
                <a:latin typeface="Rajdhani"/>
                <a:ea typeface="Rajdhani"/>
                <a:cs typeface="Rajdhani"/>
                <a:sym typeface="Rajdhani"/>
              </a:rPr>
              <a:t>3. ENCODE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5295900" y="2228850"/>
            <a:ext cx="1600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Latent    Z   t   </a:t>
            </a:r>
            <a:endParaRPr/>
          </a:p>
        </p:txBody>
      </p:sp>
      <p:pic>
        <p:nvPicPr>
          <p:cNvPr descr="image.png" id="288" name="Google Shape;288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15450" y="2174676"/>
            <a:ext cx="1143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3"/>
          <p:cNvSpPr txBox="1"/>
          <p:nvPr/>
        </p:nvSpPr>
        <p:spPr>
          <a:xfrm>
            <a:off x="7467600" y="1914525"/>
            <a:ext cx="168021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BBF24"/>
                </a:solidFill>
                <a:latin typeface="Rajdhani"/>
                <a:ea typeface="Rajdhani"/>
                <a:cs typeface="Rajdhani"/>
                <a:sym typeface="Rajdhani"/>
              </a:rPr>
              <a:t>4. DECODE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7467600" y="2228850"/>
            <a:ext cx="1600200" cy="282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Reconstruct     Y   ^     i   ,   t    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9639300" y="1914525"/>
            <a:ext cx="168021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BBF24"/>
                </a:solidFill>
                <a:latin typeface="Rajdhani"/>
                <a:ea typeface="Rajdhani"/>
                <a:cs typeface="Rajdhani"/>
                <a:sym typeface="Rajdhani"/>
              </a:rPr>
              <a:t>5. OPTIMIZE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9639300" y="2228850"/>
            <a:ext cx="1600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Minimize   L 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4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RESULTS: LOSS COMPONENTS (GUJARAT)</a:t>
            </a:r>
            <a:endParaRPr/>
          </a:p>
        </p:txBody>
      </p:sp>
      <p:sp>
        <p:nvSpPr>
          <p:cNvPr id="299" name="Google Shape;299;p24"/>
          <p:cNvSpPr/>
          <p:nvPr/>
        </p:nvSpPr>
        <p:spPr>
          <a:xfrm>
            <a:off x="666750" y="1085850"/>
            <a:ext cx="108585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0" name="Google Shape;300;p24"/>
          <p:cNvGraphicFramePr/>
          <p:nvPr/>
        </p:nvGraphicFramePr>
        <p:xfrm>
          <a:off x="666750" y="15906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{8F5CB51D-76A7-4AE2-9E1C-0B8EB9B2B07F}</a:tableStyleId>
              </a:tblPr>
              <a:tblGrid>
                <a:gridCol w="2174825"/>
                <a:gridCol w="2017225"/>
                <a:gridCol w="1922550"/>
                <a:gridCol w="2395400"/>
                <a:gridCol w="2348500"/>
              </a:tblGrid>
              <a:tr h="465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Soiling (%)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Temp. (%)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Monsoon (%)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Humidity (%)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465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Ahmedabad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9.8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5.2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12.4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465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Surat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8.7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4.8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465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Rajkot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10.3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11.8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465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Bhuj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11.6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5.4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10.9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465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Vadodara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12.7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301" name="Google Shape;301;p24"/>
          <p:cNvSpPr txBox="1"/>
          <p:nvPr/>
        </p:nvSpPr>
        <p:spPr>
          <a:xfrm>
            <a:off x="11858625" y="6505575"/>
            <a:ext cx="142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/>
          </a:p>
        </p:txBody>
      </p:sp>
      <p:sp>
        <p:nvSpPr>
          <p:cNvPr id="302" name="Google Shape;302;p24"/>
          <p:cNvSpPr/>
          <p:nvPr/>
        </p:nvSpPr>
        <p:spPr>
          <a:xfrm>
            <a:off x="666750" y="2505075"/>
            <a:ext cx="21748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/>
          <p:nvPr/>
        </p:nvSpPr>
        <p:spPr>
          <a:xfrm>
            <a:off x="2841575" y="2505075"/>
            <a:ext cx="201721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4858791" y="2505075"/>
            <a:ext cx="192256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6781353" y="2505075"/>
            <a:ext cx="239538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9176742" y="2505075"/>
            <a:ext cx="234850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4"/>
          <p:cNvSpPr/>
          <p:nvPr/>
        </p:nvSpPr>
        <p:spPr>
          <a:xfrm>
            <a:off x="666750" y="2971800"/>
            <a:ext cx="21748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2841575" y="2971800"/>
            <a:ext cx="201721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4858791" y="2971800"/>
            <a:ext cx="192256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6781353" y="2971800"/>
            <a:ext cx="239538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4"/>
          <p:cNvSpPr/>
          <p:nvPr/>
        </p:nvSpPr>
        <p:spPr>
          <a:xfrm>
            <a:off x="9176742" y="2971800"/>
            <a:ext cx="234850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4"/>
          <p:cNvSpPr/>
          <p:nvPr/>
        </p:nvSpPr>
        <p:spPr>
          <a:xfrm>
            <a:off x="666750" y="3438525"/>
            <a:ext cx="21748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2841575" y="3438525"/>
            <a:ext cx="201721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4858791" y="3438525"/>
            <a:ext cx="192256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4"/>
          <p:cNvSpPr/>
          <p:nvPr/>
        </p:nvSpPr>
        <p:spPr>
          <a:xfrm>
            <a:off x="6781353" y="3438525"/>
            <a:ext cx="239538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4"/>
          <p:cNvSpPr/>
          <p:nvPr/>
        </p:nvSpPr>
        <p:spPr>
          <a:xfrm>
            <a:off x="9176742" y="3438525"/>
            <a:ext cx="234850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666750" y="3905250"/>
            <a:ext cx="21748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2841575" y="3905250"/>
            <a:ext cx="201721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4858791" y="3905250"/>
            <a:ext cx="192256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6781353" y="3905250"/>
            <a:ext cx="239538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9176742" y="3905250"/>
            <a:ext cx="234850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666750" y="4371975"/>
            <a:ext cx="21748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841575" y="4371975"/>
            <a:ext cx="201721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4858791" y="4371975"/>
            <a:ext cx="192256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6781353" y="4371975"/>
            <a:ext cx="239538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4"/>
          <p:cNvSpPr/>
          <p:nvPr/>
        </p:nvSpPr>
        <p:spPr>
          <a:xfrm>
            <a:off x="9176742" y="4371975"/>
            <a:ext cx="234850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1" name="Google Shape;3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5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RESULTS: UNIFIED LATENT ESTIMATE</a:t>
            </a:r>
            <a:endParaRPr/>
          </a:p>
        </p:txBody>
      </p:sp>
      <p:sp>
        <p:nvSpPr>
          <p:cNvPr id="333" name="Google Shape;333;p25"/>
          <p:cNvSpPr/>
          <p:nvPr/>
        </p:nvSpPr>
        <p:spPr>
          <a:xfrm>
            <a:off x="666750" y="1085850"/>
            <a:ext cx="108585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 txBox="1"/>
          <p:nvPr/>
        </p:nvSpPr>
        <p:spPr>
          <a:xfrm>
            <a:off x="11858625" y="6505575"/>
            <a:ext cx="142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666750" y="1400175"/>
            <a:ext cx="54506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LATENT MODEL PERFORMANCE</a:t>
            </a:r>
            <a:endParaRPr/>
          </a:p>
        </p:txBody>
      </p:sp>
      <p:graphicFrame>
        <p:nvGraphicFramePr>
          <p:cNvPr id="336" name="Google Shape;336;p25"/>
          <p:cNvGraphicFramePr/>
          <p:nvPr/>
        </p:nvGraphicFramePr>
        <p:xfrm>
          <a:off x="6334125" y="15906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{8F5CB51D-76A7-4AE2-9E1C-0B8EB9B2B07F}</a:tableStyleId>
              </a:tblPr>
              <a:tblGrid>
                <a:gridCol w="1447200"/>
                <a:gridCol w="1814225"/>
                <a:gridCol w="1929700"/>
              </a:tblGrid>
              <a:tr h="464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Latent Loss (%)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Observed Range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464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Ahmedabad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BB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15.6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14.8 – 16.3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464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Surat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BB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16.1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15.2 – 16.9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464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Rajkot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BB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15.2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14.4 – 15.9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464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Bhuj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BB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16.4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15.5 – 17.1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337" name="Google Shape;337;p25"/>
          <p:cNvSpPr txBox="1"/>
          <p:nvPr/>
        </p:nvSpPr>
        <p:spPr>
          <a:xfrm>
            <a:off x="809625" y="18097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904875" y="1809750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Noise Filtering: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Removes model-specific spikes.</a:t>
            </a:r>
            <a:endParaRPr/>
          </a:p>
        </p:txBody>
      </p:sp>
      <p:sp>
        <p:nvSpPr>
          <p:cNvPr id="339" name="Google Shape;339;p25"/>
          <p:cNvSpPr txBox="1"/>
          <p:nvPr/>
        </p:nvSpPr>
        <p:spPr>
          <a:xfrm>
            <a:off x="809625" y="20669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904875" y="2066925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Seasonality: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Captures summer soiling rise (18-20%).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809625" y="23241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904875" y="2324100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Monsoon: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Shows cleaning recovery (&lt;2%).</a:t>
            </a:r>
            <a:endParaRPr/>
          </a:p>
        </p:txBody>
      </p:sp>
      <p:sp>
        <p:nvSpPr>
          <p:cNvPr id="343" name="Google Shape;343;p25"/>
          <p:cNvSpPr/>
          <p:nvPr/>
        </p:nvSpPr>
        <p:spPr>
          <a:xfrm>
            <a:off x="6334125" y="2505075"/>
            <a:ext cx="144720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7781329" y="2505075"/>
            <a:ext cx="181421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9595544" y="2505075"/>
            <a:ext cx="192970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5"/>
          <p:cNvSpPr/>
          <p:nvPr/>
        </p:nvSpPr>
        <p:spPr>
          <a:xfrm>
            <a:off x="6334125" y="2971800"/>
            <a:ext cx="144720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7781329" y="2971800"/>
            <a:ext cx="181421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9595544" y="2971800"/>
            <a:ext cx="192970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6334125" y="3438525"/>
            <a:ext cx="144720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7781329" y="3438525"/>
            <a:ext cx="181421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9595544" y="3438525"/>
            <a:ext cx="192970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5"/>
          <p:cNvSpPr/>
          <p:nvPr/>
        </p:nvSpPr>
        <p:spPr>
          <a:xfrm>
            <a:off x="6334125" y="3905250"/>
            <a:ext cx="144720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5"/>
          <p:cNvSpPr/>
          <p:nvPr/>
        </p:nvSpPr>
        <p:spPr>
          <a:xfrm>
            <a:off x="7781329" y="3905250"/>
            <a:ext cx="181421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5"/>
          <p:cNvSpPr/>
          <p:nvPr/>
        </p:nvSpPr>
        <p:spPr>
          <a:xfrm>
            <a:off x="9595544" y="3905250"/>
            <a:ext cx="192970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9" name="Google Shape;3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400175"/>
            <a:ext cx="5191125" cy="498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00175"/>
            <a:ext cx="5191125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6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VALIDATION &amp; FUTURE SCOPE</a:t>
            </a:r>
            <a:endParaRPr/>
          </a:p>
        </p:txBody>
      </p:sp>
      <p:sp>
        <p:nvSpPr>
          <p:cNvPr id="363" name="Google Shape;363;p26"/>
          <p:cNvSpPr/>
          <p:nvPr/>
        </p:nvSpPr>
        <p:spPr>
          <a:xfrm>
            <a:off x="666750" y="1085850"/>
            <a:ext cx="108585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6"/>
          <p:cNvSpPr txBox="1"/>
          <p:nvPr/>
        </p:nvSpPr>
        <p:spPr>
          <a:xfrm>
            <a:off x="11858625" y="6505575"/>
            <a:ext cx="142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/>
          </a:p>
        </p:txBody>
      </p:sp>
      <p:sp>
        <p:nvSpPr>
          <p:cNvPr id="365" name="Google Shape;365;p26"/>
          <p:cNvSpPr txBox="1"/>
          <p:nvPr/>
        </p:nvSpPr>
        <p:spPr>
          <a:xfrm>
            <a:off x="990600" y="1685925"/>
            <a:ext cx="481060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BACKTESTING</a:t>
            </a:r>
            <a:endParaRPr/>
          </a:p>
        </p:txBody>
      </p:sp>
      <p:sp>
        <p:nvSpPr>
          <p:cNvPr id="366" name="Google Shape;366;p26"/>
          <p:cNvSpPr txBox="1"/>
          <p:nvPr/>
        </p:nvSpPr>
        <p:spPr>
          <a:xfrm>
            <a:off x="990600" y="2095500"/>
            <a:ext cx="45815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Validation against historical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 Generation Data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67" name="Google Shape;367;p26"/>
          <p:cNvSpPr txBox="1"/>
          <p:nvPr/>
        </p:nvSpPr>
        <p:spPr>
          <a:xfrm>
            <a:off x="6657975" y="1685925"/>
            <a:ext cx="481060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ACTUAL PAYBACK</a:t>
            </a:r>
            <a:endParaRPr/>
          </a:p>
        </p:txBody>
      </p:sp>
      <p:sp>
        <p:nvSpPr>
          <p:cNvPr id="368" name="Google Shape;368;p26"/>
          <p:cNvSpPr txBox="1"/>
          <p:nvPr/>
        </p:nvSpPr>
        <p:spPr>
          <a:xfrm>
            <a:off x="6657975" y="2095500"/>
            <a:ext cx="45815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Impact on financial viability models:</a:t>
            </a:r>
            <a:endParaRPr/>
          </a:p>
        </p:txBody>
      </p:sp>
      <p:pic>
        <p:nvPicPr>
          <p:cNvPr descr="image.png" id="369" name="Google Shape;36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1704975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6"/>
          <p:cNvSpPr txBox="1"/>
          <p:nvPr/>
        </p:nvSpPr>
        <p:spPr>
          <a:xfrm>
            <a:off x="1133475" y="23526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1" name="Google Shape;371;p26"/>
          <p:cNvSpPr txBox="1"/>
          <p:nvPr/>
        </p:nvSpPr>
        <p:spPr>
          <a:xfrm>
            <a:off x="1228725" y="2352675"/>
            <a:ext cx="4343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Normalize plant data for irradiance.</a:t>
            </a:r>
            <a:endParaRPr/>
          </a:p>
        </p:txBody>
      </p:sp>
      <p:sp>
        <p:nvSpPr>
          <p:cNvPr id="372" name="Google Shape;372;p26"/>
          <p:cNvSpPr txBox="1"/>
          <p:nvPr/>
        </p:nvSpPr>
        <p:spPr>
          <a:xfrm>
            <a:off x="1133475" y="26098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3" name="Google Shape;373;p26"/>
          <p:cNvSpPr txBox="1"/>
          <p:nvPr/>
        </p:nvSpPr>
        <p:spPr>
          <a:xfrm>
            <a:off x="1228725" y="2609850"/>
            <a:ext cx="4343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Correlate Actual Generation drops with predicted Latent Loss spikes.</a:t>
            </a:r>
            <a:endParaRPr/>
          </a:p>
        </p:txBody>
      </p:sp>
      <p:pic>
        <p:nvPicPr>
          <p:cNvPr descr="image.png" id="374" name="Google Shape;374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57975" y="1704975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6"/>
          <p:cNvSpPr txBox="1"/>
          <p:nvPr/>
        </p:nvSpPr>
        <p:spPr>
          <a:xfrm>
            <a:off x="6800850" y="23526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6" name="Google Shape;376;p26"/>
          <p:cNvSpPr txBox="1"/>
          <p:nvPr/>
        </p:nvSpPr>
        <p:spPr>
          <a:xfrm>
            <a:off x="6896100" y="2352675"/>
            <a:ext cx="4343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LCOE: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Replacing static derates with dynamic curves reveals true yield.</a:t>
            </a:r>
            <a:endParaRPr/>
          </a:p>
        </p:txBody>
      </p:sp>
      <p:sp>
        <p:nvSpPr>
          <p:cNvPr id="377" name="Google Shape;377;p26"/>
          <p:cNvSpPr txBox="1"/>
          <p:nvPr/>
        </p:nvSpPr>
        <p:spPr>
          <a:xfrm>
            <a:off x="6800850" y="28670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8" name="Google Shape;378;p26"/>
          <p:cNvSpPr txBox="1"/>
          <p:nvPr/>
        </p:nvSpPr>
        <p:spPr>
          <a:xfrm>
            <a:off x="6896100" y="2867025"/>
            <a:ext cx="4343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ROI: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Prevents overestimation in high-soiling months.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3" name="Google Shape;38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7"/>
          <p:cNvSpPr txBox="1"/>
          <p:nvPr/>
        </p:nvSpPr>
        <p:spPr>
          <a:xfrm>
            <a:off x="395287" y="1845915"/>
            <a:ext cx="11401425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BBF24"/>
                </a:solidFill>
                <a:latin typeface="Rajdhani"/>
                <a:ea typeface="Rajdhani"/>
                <a:cs typeface="Rajdhani"/>
                <a:sym typeface="Rajdhani"/>
              </a:rPr>
              <a:t>CONCLUSION</a:t>
            </a:r>
            <a:endParaRPr/>
          </a:p>
        </p:txBody>
      </p:sp>
      <p:sp>
        <p:nvSpPr>
          <p:cNvPr id="385" name="Google Shape;385;p27"/>
          <p:cNvSpPr txBox="1"/>
          <p:nvPr/>
        </p:nvSpPr>
        <p:spPr>
          <a:xfrm>
            <a:off x="666750" y="4669035"/>
            <a:ext cx="10858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/>
          </a:p>
        </p:txBody>
      </p:sp>
      <p:sp>
        <p:nvSpPr>
          <p:cNvPr id="386" name="Google Shape;386;p27"/>
          <p:cNvSpPr txBox="1"/>
          <p:nvPr/>
        </p:nvSpPr>
        <p:spPr>
          <a:xfrm>
            <a:off x="11868150" y="6505575"/>
            <a:ext cx="1333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/>
          </a:p>
        </p:txBody>
      </p:sp>
      <p:sp>
        <p:nvSpPr>
          <p:cNvPr id="387" name="Google Shape;387;p27"/>
          <p:cNvSpPr txBox="1"/>
          <p:nvPr/>
        </p:nvSpPr>
        <p:spPr>
          <a:xfrm>
            <a:off x="1809750" y="3087885"/>
            <a:ext cx="85725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"The latent loss estimate provides a structured path for integrating environmental variability into financial analysis, offering more reliable and site-specific insights for PV project planning."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